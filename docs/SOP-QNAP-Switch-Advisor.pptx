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2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73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44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5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27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19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951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46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260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5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54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34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1D786-48F9-42DC-9F4A-4C196D687EFB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108F3-A0E2-45E1-8F64-4DDEB17D3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02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4318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圓角矩形 2"/>
          <p:cNvSpPr/>
          <p:nvPr/>
        </p:nvSpPr>
        <p:spPr>
          <a:xfrm>
            <a:off x="0" y="3302000"/>
            <a:ext cx="12192000" cy="1016000"/>
          </a:xfrm>
          <a:prstGeom prst="roundRect">
            <a:avLst/>
          </a:prstGeom>
          <a:solidFill>
            <a:srgbClr val="005A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4318000"/>
            <a:ext cx="12192000" cy="2540000"/>
          </a:xfrm>
          <a:prstGeom prst="rect">
            <a:avLst/>
          </a:prstGeom>
          <a:solidFill>
            <a:srgbClr val="E8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62000" y="508000"/>
            <a:ext cx="2032000" cy="457200"/>
          </a:xfrm>
          <a:prstGeom prst="rect">
            <a:avLst/>
          </a:prstGeom>
          <a:solidFill>
            <a:srgbClr val="005A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62000" y="5080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1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QNAP Internal SOP</a:t>
            </a:r>
            <a:endParaRPr lang="zh-TW" altLang="en-US" sz="1100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62000" y="1143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使用 </a:t>
            </a:r>
            <a:r>
              <a:rPr lang="en-US" altLang="zh-TW" sz="3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Claude AI </a:t>
            </a:r>
            <a:r>
              <a:rPr lang="zh-TW" altLang="en-US" sz="3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建置</a:t>
            </a:r>
            <a:endParaRPr lang="zh-TW" altLang="en-US" sz="3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2000" y="2133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3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QNAP Switch </a:t>
            </a:r>
            <a:r>
              <a:rPr lang="zh-TW" altLang="en-US" sz="3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產品顧問系統</a:t>
            </a:r>
            <a:endParaRPr lang="zh-TW" altLang="en-US" sz="3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62000" y="3149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6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SOP v1.0  ·  Networking PM / Product DPM</a:t>
            </a:r>
            <a:endParaRPr lang="zh-TW" altLang="en-US" sz="16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62000" y="45085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6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作者：</a:t>
            </a:r>
            <a:r>
              <a:rPr lang="en-US" altLang="zh-TW" sz="16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Ronald Hsu</a:t>
            </a:r>
            <a:r>
              <a:rPr lang="zh-TW" altLang="en-US" sz="16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（許智傑）</a:t>
            </a:r>
            <a:endParaRPr lang="zh-TW" altLang="en-US" sz="16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62000" y="4953000"/>
            <a:ext cx="635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更新日期：</a:t>
            </a:r>
            <a:r>
              <a:rPr lang="en-US" altLang="zh-TW" sz="14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2026-02-26</a:t>
            </a:r>
            <a:endParaRPr lang="zh-TW" altLang="en-US" sz="14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28000" y="4445000"/>
            <a:ext cx="3556000" cy="2032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8229600" y="4508500"/>
            <a:ext cx="340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2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git push
    ↓
GitHub Actions
    ↓
QNAP NAS </a:t>
            </a:r>
            <a:r>
              <a:rPr lang="zh-TW" altLang="en-US" sz="12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自動部署
    ↓
可存取的 </a:t>
            </a:r>
            <a:r>
              <a:rPr lang="en-US" altLang="zh-TW" sz="12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顧問網頁</a:t>
            </a:r>
            <a:endParaRPr lang="zh-TW" altLang="en-US" sz="1200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896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目錄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Agenda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8000" y="1397000"/>
            <a:ext cx="3429000" cy="23495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8000" y="1397000"/>
            <a:ext cx="76200" cy="23495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11200" y="1549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01</a:t>
            </a:r>
            <a:endParaRPr lang="zh-TW" altLang="en-US" sz="22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11200" y="20066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問題背景與最終產出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11200" y="2540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為什麼要建這個系統？可以解決什麼問題？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18000" y="1397000"/>
            <a:ext cx="3429000" cy="2349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318000" y="1397000"/>
            <a:ext cx="76200" cy="23495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4521200" y="1549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02</a:t>
            </a:r>
            <a:endParaRPr lang="zh-TW" altLang="en-US" sz="22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521200" y="20066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使用工具與環境準備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521200" y="2540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Claude MCP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Groq API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GitHub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QNAP NAS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128000" y="1397000"/>
            <a:ext cx="3429000" cy="23495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8128000" y="1397000"/>
            <a:ext cx="76200" cy="23495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8331200" y="1549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03</a:t>
            </a:r>
            <a:endParaRPr lang="zh-TW" altLang="en-US" sz="22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331200" y="20066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6 </a:t>
            </a:r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大操作步驟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331200" y="2540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從建立資料夾到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CI/CD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自動部署完整流程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8000" y="4064000"/>
            <a:ext cx="3429000" cy="2349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08000" y="4064000"/>
            <a:ext cx="76200" cy="23495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711200" y="4216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04</a:t>
            </a:r>
            <a:endParaRPr lang="zh-TW" altLang="en-US" sz="22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11200" y="46736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驗證與 </a:t>
            </a:r>
            <a:r>
              <a:rPr lang="en-US" altLang="zh-TW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Refine </a:t>
            </a:r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流程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11200" y="5207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如何確保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回答準確？測試問題集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18000" y="4064000"/>
            <a:ext cx="3429000" cy="23495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4318000" y="4064000"/>
            <a:ext cx="76200" cy="23495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4521200" y="4216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05</a:t>
            </a:r>
            <a:endParaRPr lang="zh-TW" altLang="en-US" sz="22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521200" y="46736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大困難與解決方法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521200" y="5207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操作員最常遇到的問題與對策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128000" y="4064000"/>
            <a:ext cx="3429000" cy="2349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8128000" y="4064000"/>
            <a:ext cx="76200" cy="23495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8331200" y="4216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06</a:t>
            </a:r>
            <a:endParaRPr lang="zh-TW" altLang="en-US" sz="22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8331200" y="46736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Prompt </a:t>
            </a:r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範本附錄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331200" y="5207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可直接複用的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組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Prompt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模板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162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01 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問題背景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為什麼要建這個系統？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08000" y="1270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現況痛點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8000" y="1752600"/>
            <a:ext cx="109220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08000" y="1752600"/>
            <a:ext cx="76200" cy="7874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685800" y="18034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2000" smtClean="0">
                <a:solidFill>
                  <a:srgbClr val="C80000"/>
                </a:solidFill>
                <a:latin typeface="微軟正黑體" panose="020B0604030504040204" pitchFamily="34" charset="-120"/>
              </a:rPr>
              <a:t>(!)</a:t>
            </a:r>
            <a:endParaRPr lang="zh-TW" altLang="en-US" sz="2000">
              <a:solidFill>
                <a:srgbClr val="C8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219200" y="1803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客戶選品困難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219200" y="2108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QNAP Switch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產品線繁多，客戶難以從規格表判斷哪款最適合自己的需求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8000" y="2667000"/>
            <a:ext cx="109220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08000" y="2667000"/>
            <a:ext cx="76200" cy="7874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685800" y="27178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2000" smtClean="0">
                <a:solidFill>
                  <a:srgbClr val="C80000"/>
                </a:solidFill>
                <a:latin typeface="微軟正黑體" panose="020B0604030504040204" pitchFamily="34" charset="-120"/>
              </a:rPr>
              <a:t>(!)</a:t>
            </a:r>
            <a:endParaRPr lang="zh-TW" altLang="en-US" sz="2000">
              <a:solidFill>
                <a:srgbClr val="C8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219200" y="2717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重複回答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219200" y="3022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業務、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FAE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、客戶反覆詢問「哪款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Switch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支援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PoE + 10G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？」等選品問題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08000" y="3581400"/>
            <a:ext cx="109220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508000" y="3581400"/>
            <a:ext cx="76200" cy="7874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685800" y="36322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2000" smtClean="0">
                <a:solidFill>
                  <a:srgbClr val="C80000"/>
                </a:solidFill>
                <a:latin typeface="微軟正黑體" panose="020B0604030504040204" pitchFamily="34" charset="-120"/>
              </a:rPr>
              <a:t>(!)</a:t>
            </a:r>
            <a:endParaRPr lang="zh-TW" altLang="en-US" sz="2000">
              <a:solidFill>
                <a:srgbClr val="C8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219200" y="3632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文件更新落差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219200" y="3937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產品資料散落在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Datasheet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Confluence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、官網，難以即時同步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08000" y="4495800"/>
            <a:ext cx="109220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508000" y="4495800"/>
            <a:ext cx="76200" cy="7874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685800" y="45466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2000" smtClean="0">
                <a:solidFill>
                  <a:srgbClr val="C80000"/>
                </a:solidFill>
                <a:latin typeface="微軟正黑體" panose="020B0604030504040204" pitchFamily="34" charset="-120"/>
              </a:rPr>
              <a:t>(!)</a:t>
            </a:r>
            <a:endParaRPr lang="zh-TW" altLang="en-US" sz="2000">
              <a:solidFill>
                <a:srgbClr val="C8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219200" y="4546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技術門檻高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219200" y="48514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內部工具需要工程師介入才能建置，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無法快速自行驗證選品邏輯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2428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最終產出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一次 </a:t>
            </a:r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git push </a:t>
            </a:r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完成從開發到上線的全流程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60400" y="1397000"/>
            <a:ext cx="1879600" cy="889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660400" y="13970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git push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60400" y="1879600"/>
            <a:ext cx="187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1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本機推送</a:t>
            </a:r>
            <a:endParaRPr lang="zh-TW" altLang="en-US" sz="11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40000" y="16510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→</a:t>
            </a:r>
            <a:endParaRPr lang="zh-TW" altLang="en-US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21000" y="1397000"/>
            <a:ext cx="1879600" cy="889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921000" y="13970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GitHub Actions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21000" y="1879600"/>
            <a:ext cx="187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1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自動觸發</a:t>
            </a:r>
            <a:endParaRPr lang="zh-TW" altLang="en-US" sz="11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800600" y="16510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→</a:t>
            </a:r>
            <a:endParaRPr lang="zh-TW" altLang="en-US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181600" y="1397000"/>
            <a:ext cx="1879600" cy="889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5181600" y="13970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NAS Runner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181600" y="1879600"/>
            <a:ext cx="187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1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執行部署</a:t>
            </a:r>
            <a:endParaRPr lang="zh-TW" altLang="en-US" sz="11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061200" y="16510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→</a:t>
            </a:r>
            <a:endParaRPr lang="zh-TW" altLang="en-US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442200" y="1397000"/>
            <a:ext cx="1879600" cy="889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7442200" y="13970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Web Station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442200" y="1879600"/>
            <a:ext cx="187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1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靜態服務</a:t>
            </a:r>
            <a:endParaRPr lang="zh-TW" altLang="en-US" sz="11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9321800" y="16510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→</a:t>
            </a:r>
            <a:endParaRPr lang="zh-TW" altLang="en-US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702800" y="1397000"/>
            <a:ext cx="1879600" cy="889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9702800" y="1397000"/>
            <a:ext cx="187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顧問網頁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9702800" y="1879600"/>
            <a:ext cx="187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1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對外可用</a:t>
            </a:r>
            <a:endParaRPr lang="zh-TW" altLang="en-US" sz="11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08000" y="2540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交付物（</a:t>
            </a:r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Deliverables</a:t>
            </a:r>
            <a:r>
              <a:rPr lang="zh-TW" altLang="en-US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8000" y="2921000"/>
            <a:ext cx="109220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508000" y="2921000"/>
            <a:ext cx="76200" cy="7366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685800" y="2971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index.html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048000" y="2971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對話式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前端介面，呼叫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Groq API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，純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HTML/CSS/JS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08000" y="3759200"/>
            <a:ext cx="109220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508000" y="3759200"/>
            <a:ext cx="76200" cy="7366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/>
          <p:cNvSpPr txBox="1"/>
          <p:nvPr/>
        </p:nvSpPr>
        <p:spPr>
          <a:xfrm>
            <a:off x="685800" y="38100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products.js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048000" y="3810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結構化產品資料庫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+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動態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System Prompt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產生器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buildSystemPrompt()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08000" y="4597400"/>
            <a:ext cx="109220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508000" y="4597400"/>
            <a:ext cx="76200" cy="7366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85800" y="4648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deploy-nas.yml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048000" y="46482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GitHub Actions CI/CD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工作流程，推送即自動部署至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NAS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8000" y="5435600"/>
            <a:ext cx="109220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508000" y="5435600"/>
            <a:ext cx="76200" cy="7366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685800" y="5486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SOP </a:t>
            </a:r>
            <a:r>
              <a:rPr lang="zh-TW" altLang="en-US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文件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048000" y="54864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本文件，可複用於其他產品顧問系統（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Router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NAS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Camera...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326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02 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使用工具與環境準備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Tools &amp; Prerequisites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8000" y="1270000"/>
            <a:ext cx="11176000" cy="381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84200" y="1270000"/>
            <a:ext cx="223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工具</a:t>
            </a:r>
            <a:endParaRPr lang="zh-TW" altLang="en-US" sz="13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870200" y="1270000"/>
            <a:ext cx="477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用途</a:t>
            </a:r>
            <a:endParaRPr lang="zh-TW" altLang="en-US" sz="13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696200" y="1270000"/>
            <a:ext cx="1727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費用</a:t>
            </a:r>
            <a:endParaRPr lang="zh-TW" altLang="en-US" sz="13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9474200" y="1270000"/>
            <a:ext cx="223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取得方式</a:t>
            </a:r>
            <a:endParaRPr lang="zh-TW" altLang="en-US" sz="13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8000" y="1651000"/>
            <a:ext cx="1117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84200" y="1701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Claude Code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870200" y="17018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輔助開發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+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自動化腳本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696200" y="17018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付費訂閱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9474200" y="1701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claude.ai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8000" y="2387600"/>
            <a:ext cx="11176000" cy="711200"/>
          </a:xfrm>
          <a:prstGeom prst="rect">
            <a:avLst/>
          </a:prstGeom>
          <a:solidFill>
            <a:srgbClr val="F0F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84200" y="24384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Groq API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870200" y="2438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免費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LLM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推理（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llama-3.3-70b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696200" y="24384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免費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9474200" y="24384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console.groq.com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8000" y="3124200"/>
            <a:ext cx="1117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84200" y="31750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GitHub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870200" y="31750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版控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+ Actions CI/CD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96200" y="31750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免費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public repo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474200" y="31750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github.com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8000" y="3860800"/>
            <a:ext cx="11176000" cy="711200"/>
          </a:xfrm>
          <a:prstGeom prst="rect">
            <a:avLst/>
          </a:prstGeom>
          <a:solidFill>
            <a:srgbClr val="F0F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584200" y="3911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QNAP NAS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870200" y="3911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Self-hosted Runner + Web Station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696200" y="39116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公司設備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9474200" y="3911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IT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申請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08000" y="4597400"/>
            <a:ext cx="11176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/>
          <p:cNvSpPr txBox="1"/>
          <p:nvPr/>
        </p:nvSpPr>
        <p:spPr>
          <a:xfrm>
            <a:off x="584200" y="46482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Git for Windows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870200" y="4648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本機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操作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696200" y="46482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免費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9474200" y="46482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git-scm.com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859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環境準備 </a:t>
            </a:r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Checklist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開始之前，確認以下項目全部打勾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8000" y="1346200"/>
            <a:ext cx="1092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11200" y="1473200"/>
            <a:ext cx="355600" cy="355600"/>
          </a:xfrm>
          <a:prstGeom prst="rect">
            <a:avLst/>
          </a:prstGeom>
          <a:solidFill>
            <a:srgbClr val="DCF0FF"/>
          </a:solidFill>
          <a:ln w="19050">
            <a:solidFill>
              <a:srgbClr val="007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smtClean="0">
                <a:solidFill>
                  <a:srgbClr val="0072BC"/>
                </a:solidFill>
              </a:rPr>
              <a:t>[ ]</a:t>
            </a:r>
            <a:endParaRPr lang="zh-TW" altLang="en-US" sz="1600">
              <a:solidFill>
                <a:srgbClr val="0072BC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193800" y="13970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 for Windows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已安裝（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C:\Program Files\Git\bin\git.exe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8000" y="2057400"/>
            <a:ext cx="1092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711200" y="2184400"/>
            <a:ext cx="355600" cy="355600"/>
          </a:xfrm>
          <a:prstGeom prst="rect">
            <a:avLst/>
          </a:prstGeom>
          <a:solidFill>
            <a:srgbClr val="DCF0FF"/>
          </a:solidFill>
          <a:ln w="19050">
            <a:solidFill>
              <a:srgbClr val="007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smtClean="0">
                <a:solidFill>
                  <a:srgbClr val="0072BC"/>
                </a:solidFill>
              </a:rPr>
              <a:t>[ ]</a:t>
            </a:r>
            <a:endParaRPr lang="zh-TW" altLang="en-US" sz="1600">
              <a:solidFill>
                <a:srgbClr val="0072BC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193800" y="2108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帳號已建立，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repo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已初始化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8000" y="2768600"/>
            <a:ext cx="1092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711200" y="2895600"/>
            <a:ext cx="355600" cy="355600"/>
          </a:xfrm>
          <a:prstGeom prst="rect">
            <a:avLst/>
          </a:prstGeom>
          <a:solidFill>
            <a:srgbClr val="DCF0FF"/>
          </a:solidFill>
          <a:ln w="19050">
            <a:solidFill>
              <a:srgbClr val="007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smtClean="0">
                <a:solidFill>
                  <a:srgbClr val="0072BC"/>
                </a:solidFill>
              </a:rPr>
              <a:t>[ ]</a:t>
            </a:r>
            <a:endParaRPr lang="zh-TW" altLang="en-US" sz="1600">
              <a:solidFill>
                <a:srgbClr val="0072BC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193800" y="28194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 PAT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已建立，同時勾選 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repo  +  workflow 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兩個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scope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8000" y="3479800"/>
            <a:ext cx="1092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711200" y="3606800"/>
            <a:ext cx="355600" cy="355600"/>
          </a:xfrm>
          <a:prstGeom prst="rect">
            <a:avLst/>
          </a:prstGeom>
          <a:solidFill>
            <a:srgbClr val="DCF0FF"/>
          </a:solidFill>
          <a:ln w="19050">
            <a:solidFill>
              <a:srgbClr val="007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smtClean="0">
                <a:solidFill>
                  <a:srgbClr val="0072BC"/>
                </a:solidFill>
              </a:rPr>
              <a:t>[ ]</a:t>
            </a:r>
            <a:endParaRPr lang="zh-TW" altLang="en-US" sz="1600">
              <a:solidFill>
                <a:srgbClr val="0072BC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193800" y="35306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Groq API Key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已申請（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console.groq.com → API Keys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8000" y="4191000"/>
            <a:ext cx="1092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711200" y="4318000"/>
            <a:ext cx="355600" cy="355600"/>
          </a:xfrm>
          <a:prstGeom prst="rect">
            <a:avLst/>
          </a:prstGeom>
          <a:solidFill>
            <a:srgbClr val="DCF0FF"/>
          </a:solidFill>
          <a:ln w="19050">
            <a:solidFill>
              <a:srgbClr val="007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smtClean="0">
                <a:solidFill>
                  <a:srgbClr val="0072BC"/>
                </a:solidFill>
              </a:rPr>
              <a:t>[ ]</a:t>
            </a:r>
            <a:endParaRPr lang="zh-TW" altLang="en-US" sz="1600">
              <a:solidFill>
                <a:srgbClr val="0072BC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93800" y="42418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QNAP NAS Web Station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已啟用，根目錄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/share/Web/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可寫入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8000" y="4902200"/>
            <a:ext cx="1092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711200" y="5029200"/>
            <a:ext cx="355600" cy="355600"/>
          </a:xfrm>
          <a:prstGeom prst="rect">
            <a:avLst/>
          </a:prstGeom>
          <a:solidFill>
            <a:srgbClr val="DCF0FF"/>
          </a:solidFill>
          <a:ln w="19050">
            <a:solidFill>
              <a:srgbClr val="007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smtClean="0">
                <a:solidFill>
                  <a:srgbClr val="0072BC"/>
                </a:solidFill>
              </a:rPr>
              <a:t>[ ]</a:t>
            </a:r>
            <a:endParaRPr lang="zh-TW" altLang="en-US" sz="1600">
              <a:solidFill>
                <a:srgbClr val="0072BC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193800" y="49530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 Actions Self-hosted Runner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已安裝並在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NAS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上執行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08000" y="5613400"/>
            <a:ext cx="10922000" cy="63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711200" y="5740400"/>
            <a:ext cx="355600" cy="355600"/>
          </a:xfrm>
          <a:prstGeom prst="rect">
            <a:avLst/>
          </a:prstGeom>
          <a:solidFill>
            <a:srgbClr val="DCF0FF"/>
          </a:solidFill>
          <a:ln w="19050">
            <a:solidFill>
              <a:srgbClr val="007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smtClean="0">
                <a:solidFill>
                  <a:srgbClr val="0072BC"/>
                </a:solidFill>
              </a:rPr>
              <a:t>[ ]</a:t>
            </a:r>
            <a:endParaRPr lang="zh-TW" altLang="en-US" sz="1600">
              <a:solidFill>
                <a:srgbClr val="0072BC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193800" y="56642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Runner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狀態確認：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 repo → Settings → Actions → Runners →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顯示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Idle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08000" y="6324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⚠  PAT </a:t>
            </a:r>
            <a:r>
              <a:rPr lang="zh-TW" altLang="en-US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必須同時勾選 </a:t>
            </a:r>
            <a:r>
              <a:rPr lang="en-US" altLang="zh-TW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repo + workflow </a:t>
            </a:r>
            <a:r>
              <a:rPr lang="zh-TW" altLang="en-US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兩個 </a:t>
            </a:r>
            <a:r>
              <a:rPr lang="en-US" altLang="zh-TW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scope</a:t>
            </a:r>
            <a:r>
              <a:rPr lang="zh-TW" altLang="en-US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，缺少 </a:t>
            </a:r>
            <a:r>
              <a:rPr lang="en-US" altLang="zh-TW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workflow </a:t>
            </a:r>
            <a:r>
              <a:rPr lang="zh-TW" altLang="en-US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會導致 </a:t>
            </a:r>
            <a:r>
              <a:rPr lang="en-US" altLang="zh-TW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push .github/workflows/ </a:t>
            </a:r>
            <a:r>
              <a:rPr lang="zh-TW" altLang="en-US" sz="1100" smtClean="0">
                <a:solidFill>
                  <a:srgbClr val="B40000"/>
                </a:solidFill>
                <a:latin typeface="微軟正黑體" panose="020B0604030504040204" pitchFamily="34" charset="-120"/>
              </a:rPr>
              <a:t>時失敗</a:t>
            </a:r>
            <a:endParaRPr lang="zh-TW" altLang="en-US" sz="1100">
              <a:solidFill>
                <a:srgbClr val="B40000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4357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03 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操作步驟概覽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6 Steps End-to-End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8000" y="1346200"/>
            <a:ext cx="3530600" cy="22606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8000" y="1346200"/>
            <a:ext cx="35306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11200" y="1600200"/>
            <a:ext cx="558800" cy="5588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
1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5800" y="22606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建立專案資料夾結構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5800" y="27686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git init + remote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設定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92600" y="1346200"/>
            <a:ext cx="3530600" cy="22606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292600" y="1346200"/>
            <a:ext cx="35306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495800" y="1600200"/>
            <a:ext cx="558800" cy="5588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
2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470400" y="22606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建立產品資料庫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470400" y="27686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products.js + buildSystemPrompt()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077200" y="1346200"/>
            <a:ext cx="3530600" cy="22606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8077200" y="1346200"/>
            <a:ext cx="35306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8280400" y="1600200"/>
            <a:ext cx="558800" cy="5588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
3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255000" y="22606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建立前端介面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255000" y="27686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index.html + Groq API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串接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8000" y="3835400"/>
            <a:ext cx="3530600" cy="2260600"/>
          </a:xfrm>
          <a:prstGeom prst="rect">
            <a:avLst/>
          </a:prstGeom>
          <a:solidFill>
            <a:srgbClr val="FFF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08000" y="3835400"/>
            <a:ext cx="35306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711200" y="4089400"/>
            <a:ext cx="558800" cy="5588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
4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85800" y="47498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本機測試驗證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85800" y="52578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8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題測試集，確認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回答品質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292600" y="3835400"/>
            <a:ext cx="3530600" cy="2260600"/>
          </a:xfrm>
          <a:prstGeom prst="rect">
            <a:avLst/>
          </a:prstGeom>
          <a:solidFill>
            <a:srgbClr val="FFF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4292600" y="3835400"/>
            <a:ext cx="35306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4495800" y="4089400"/>
            <a:ext cx="558800" cy="5588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
5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470400" y="47498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設定 </a:t>
            </a:r>
            <a:r>
              <a:rPr lang="en-US" altLang="zh-TW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CI/CD </a:t>
            </a:r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自動部署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470400" y="52578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.github/workflows/deploy-nas.yml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077200" y="3835400"/>
            <a:ext cx="3530600" cy="2260600"/>
          </a:xfrm>
          <a:prstGeom prst="rect">
            <a:avLst/>
          </a:prstGeom>
          <a:solidFill>
            <a:srgbClr val="FFF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8077200" y="3835400"/>
            <a:ext cx="35306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8280400" y="4089400"/>
            <a:ext cx="558800" cy="5588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
6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8255000" y="47498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5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日常維護更新</a:t>
            </a:r>
            <a:endParaRPr lang="zh-TW" altLang="en-US" sz="15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255000" y="5257800"/>
            <a:ext cx="320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新增產品 →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git push →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自動上線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93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 1-2 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建立專案與產品資料庫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Input / Process / Output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1000" y="1270000"/>
            <a:ext cx="5715000" cy="469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81000" y="1270000"/>
            <a:ext cx="57150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84200" y="1422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STEP 1  </a:t>
            </a:r>
            <a:r>
              <a:rPr lang="zh-TW" altLang="en-US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建立專案資料夾結構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4200" y="1778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INPUT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84200" y="2006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無（從零開始）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84200" y="2438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PROCESS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4200" y="2692400"/>
            <a:ext cx="5156200" cy="1016000"/>
          </a:xfrm>
          <a:prstGeom prst="rect">
            <a:avLst/>
          </a:prstGeom>
          <a:solidFill>
            <a:srgbClr val="1E1E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660400" y="2717800"/>
            <a:ext cx="5003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100" smtClean="0">
                <a:solidFill>
                  <a:srgbClr val="96DC96"/>
                </a:solidFill>
                <a:latin typeface="微軟正黑體" panose="020B0604030504040204" pitchFamily="34" charset="-120"/>
              </a:rPr>
              <a:t>mkdir qnap-switch-advisor
git init
git remote add origin
  https://[</a:t>
            </a:r>
            <a:r>
              <a:rPr lang="zh-TW" altLang="en-US" sz="1100" smtClean="0">
                <a:solidFill>
                  <a:srgbClr val="96DC96"/>
                </a:solidFill>
                <a:latin typeface="微軟正黑體" panose="020B0604030504040204" pitchFamily="34" charset="-120"/>
              </a:rPr>
              <a:t>帳號</a:t>
            </a:r>
            <a:r>
              <a:rPr lang="en-US" altLang="zh-TW" sz="1100" smtClean="0">
                <a:solidFill>
                  <a:srgbClr val="96DC96"/>
                </a:solidFill>
                <a:latin typeface="微軟正黑體" panose="020B0604030504040204" pitchFamily="34" charset="-120"/>
              </a:rPr>
              <a:t>]:[PAT]@github.com/...</a:t>
            </a:r>
            <a:endParaRPr lang="zh-TW" altLang="en-US" sz="1100">
              <a:solidFill>
                <a:srgbClr val="96DC9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84200" y="3784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OUTPUT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4200" y="4013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qnap-switch-advisor/
  ├── .git/  ← git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初始化完成
  └──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待建立其他檔案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)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299200" y="1270000"/>
            <a:ext cx="5486400" cy="469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6299200" y="1270000"/>
            <a:ext cx="54864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6502400" y="1422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STEP 2 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建立產品資料庫（</a:t>
            </a:r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products.js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02400" y="1778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INPUT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502400" y="2006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手動整理的產品規格文字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502400" y="2438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PROCESS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502400" y="2692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貼入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Prompt A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Claude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輸出結構化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JS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物件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502400" y="3124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OUTPUT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02400" y="3378200"/>
            <a:ext cx="5080000" cy="1498600"/>
          </a:xfrm>
          <a:prstGeom prst="rect">
            <a:avLst/>
          </a:prstGeom>
          <a:solidFill>
            <a:srgbClr val="1E1E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6578600" y="3403600"/>
            <a:ext cx="492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smtClean="0">
                <a:solidFill>
                  <a:srgbClr val="96DC96"/>
                </a:solidFill>
                <a:latin typeface="微軟正黑體" panose="020B0604030504040204" pitchFamily="34" charset="-120"/>
              </a:rPr>
              <a:t>const QNAP_PRODUCTS = [
  { id: 'QSW-M2108-2C',
    ports: '8x 2.5GbE + 2x 10GbE',
    features: ['VLAN','QoS'], ...
  }, ...
];
function buildSystemPrompt() {...}</a:t>
            </a:r>
            <a:endParaRPr lang="zh-TW" altLang="en-US" sz="1100">
              <a:solidFill>
                <a:srgbClr val="96DC96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608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 3-4 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前端介面與本機測試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Input / Process / Output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1000" y="1270000"/>
            <a:ext cx="5715000" cy="469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81000" y="1270000"/>
            <a:ext cx="57150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84200" y="1422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STEP 3 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建立對話式前端介面（</a:t>
            </a:r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index.html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4200" y="1778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INPUT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84200" y="2006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products.js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（已完成）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+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設計需求說明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84200" y="2387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PROCESS</a:t>
            </a:r>
            <a:r>
              <a:rPr lang="zh-TW" altLang="en-US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（</a:t>
            </a:r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Prompt C </a:t>
            </a:r>
            <a:r>
              <a:rPr lang="zh-TW" altLang="en-US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關鍵需求）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84200" y="2667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•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對話泡泡（用戶右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藍，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左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/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灰）
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•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引入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products.js + buildSystemPrompt()
• Groq API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（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llama-3.3-70b-versatile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）
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• API Key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存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localStorage
• Enter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送出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+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載入動畫
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•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主色調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QNAP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藍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#0072bc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4200" y="4267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OUTPUT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84200" y="44958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index.html  —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可直接用瀏覽器開啟的單頁應用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299200" y="1270000"/>
            <a:ext cx="5486400" cy="469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6299200" y="1270000"/>
            <a:ext cx="54864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6502400" y="1422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STEP 4 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本機測試與功能驗證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502400" y="1778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8 </a:t>
            </a:r>
            <a:r>
              <a:rPr lang="zh-TW" altLang="en-US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題測試問題集（</a:t>
            </a:r>
            <a:r>
              <a:rPr lang="en-US" altLang="zh-TW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Prompt E</a:t>
            </a:r>
            <a:r>
              <a:rPr lang="zh-TW" altLang="en-US" sz="11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1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502400" y="2082800"/>
            <a:ext cx="5080000" cy="546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6502400" y="2082800"/>
            <a:ext cx="635000" cy="546100"/>
          </a:xfrm>
          <a:prstGeom prst="rect">
            <a:avLst/>
          </a:prstGeom>
          <a:solidFill>
            <a:srgbClr val="0096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6502400" y="20828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基本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213600" y="2108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需要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PoE Switch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8 port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以上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13600" y="23622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列出含 </a:t>
            </a:r>
            <a:r>
              <a:rPr lang="en-US" altLang="zh-TW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PoE </a:t>
            </a:r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型號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02400" y="2679700"/>
            <a:ext cx="5080000" cy="546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502400" y="2679700"/>
            <a:ext cx="635000" cy="546100"/>
          </a:xfrm>
          <a:prstGeom prst="rect">
            <a:avLst/>
          </a:prstGeom>
          <a:solidFill>
            <a:srgbClr val="0096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6502400" y="26797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基本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213600" y="27051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家用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NAS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連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10G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，推薦哪款？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213600" y="29591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推薦 </a:t>
            </a:r>
            <a:r>
              <a:rPr lang="en-US" altLang="zh-TW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SOHO </a:t>
            </a:r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級產品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502400" y="3276600"/>
            <a:ext cx="5080000" cy="546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6502400" y="3276600"/>
            <a:ext cx="635000" cy="5461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6502400" y="32766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進階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213600" y="3302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企業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48 port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全管理型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Switch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213600" y="3556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推薦 </a:t>
            </a:r>
            <a:r>
              <a:rPr lang="en-US" altLang="zh-TW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Fully Managed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502400" y="3873500"/>
            <a:ext cx="5080000" cy="546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6502400" y="3873500"/>
            <a:ext cx="635000" cy="5461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502400" y="38735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進階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213600" y="38989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VLAN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隔離不同部門網段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213600" y="41529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說明功能並推薦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02400" y="4470400"/>
            <a:ext cx="5080000" cy="546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6502400" y="4470400"/>
            <a:ext cx="635000" cy="546100"/>
          </a:xfrm>
          <a:prstGeom prst="rect">
            <a:avLst/>
          </a:prstGeom>
          <a:solidFill>
            <a:srgbClr val="B4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6502400" y="4470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邊界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7213600" y="4495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你有賣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Cisco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嗎？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7213600" y="4749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婉拒，引導 </a:t>
            </a:r>
            <a:r>
              <a:rPr lang="en-US" altLang="zh-TW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QNAP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02400" y="5067300"/>
            <a:ext cx="5080000" cy="5461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6502400" y="5067300"/>
            <a:ext cx="635000" cy="546100"/>
          </a:xfrm>
          <a:prstGeom prst="rect">
            <a:avLst/>
          </a:prstGeom>
          <a:solidFill>
            <a:srgbClr val="B4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6502400" y="50673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TW" altLang="en-US" sz="11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邊界</a:t>
            </a:r>
            <a:endParaRPr lang="zh-TW" altLang="en-US" sz="11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7213600" y="50927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今天天氣怎樣？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7213600" y="53467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僅回答 </a:t>
            </a:r>
            <a:r>
              <a:rPr lang="en-US" altLang="zh-TW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Switch </a:t>
            </a:r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問題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221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STEP 5  GitHub Actions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自動部署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一次設定，終身受益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1000" y="1270000"/>
            <a:ext cx="6096000" cy="4673600"/>
          </a:xfrm>
          <a:prstGeom prst="rect">
            <a:avLst/>
          </a:prstGeom>
          <a:solidFill>
            <a:srgbClr val="1E1E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57200" y="1270000"/>
            <a:ext cx="5943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smtClean="0">
                <a:solidFill>
                  <a:srgbClr val="B4B4B4"/>
                </a:solidFill>
                <a:latin typeface="微軟正黑體" panose="020B0604030504040204" pitchFamily="34" charset="-120"/>
              </a:rPr>
              <a:t>  .github/workflows/deploy-nas.yml</a:t>
            </a:r>
            <a:endParaRPr lang="zh-TW" altLang="en-US" sz="1100">
              <a:solidFill>
                <a:srgbClr val="B4B4B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1000" y="1524000"/>
            <a:ext cx="6096000" cy="4419600"/>
          </a:xfrm>
          <a:prstGeom prst="rect">
            <a:avLst/>
          </a:prstGeom>
          <a:solidFill>
            <a:srgbClr val="1919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82600" y="1574800"/>
            <a:ext cx="589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100" smtClean="0">
                <a:solidFill>
                  <a:srgbClr val="96D296"/>
                </a:solidFill>
                <a:latin typeface="微軟正黑體" panose="020B0604030504040204" pitchFamily="34" charset="-120"/>
              </a:rPr>
              <a:t>name: Deploy to QNAP NAS
on:
  push:
    branches: [ main ]
jobs:
  deploy:
    runs-on: self-hosted
    steps:
      - name: Checkout code
        uses: actions/checkout@v4
      - name: Deploy to Web Station
        run: |
          DEST="/share/Web/qnap-switch-advisor"
          mkdir -p "$DEST"
          cp index.html "$DEST/"
          cp products.js "$DEST/"
          echo "</a:t>
            </a:r>
            <a:r>
              <a:rPr lang="zh-TW" altLang="en-US" sz="1100" smtClean="0">
                <a:solidFill>
                  <a:srgbClr val="96D296"/>
                </a:solidFill>
                <a:latin typeface="微軟正黑體" panose="020B0604030504040204" pitchFamily="34" charset="-120"/>
              </a:rPr>
              <a:t>✅ </a:t>
            </a:r>
            <a:r>
              <a:rPr lang="en-US" altLang="zh-TW" sz="1100" smtClean="0">
                <a:solidFill>
                  <a:srgbClr val="96D296"/>
                </a:solidFill>
                <a:latin typeface="微軟正黑體" panose="020B0604030504040204" pitchFamily="34" charset="-120"/>
              </a:rPr>
              <a:t>Deployed at $(date)"</a:t>
            </a:r>
            <a:endParaRPr lang="zh-TW" altLang="en-US" sz="1100">
              <a:solidFill>
                <a:srgbClr val="96D29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80200" y="1270000"/>
            <a:ext cx="5130800" cy="4673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680200" y="1270000"/>
            <a:ext cx="51308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6858000" y="1473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設定重點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58000" y="1828800"/>
            <a:ext cx="4775200" cy="7620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6934200" y="1879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runs-on: self-hosted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34200" y="21844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指定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QNAP NAS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上安裝的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Runner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執行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58000" y="2692400"/>
            <a:ext cx="4775200" cy="7620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6934200" y="27432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actions/checkout@v4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934200" y="30480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自動取得最新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main branch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程式碼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58000" y="3556000"/>
            <a:ext cx="4775200" cy="7620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6934200" y="36068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cp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兩個核心檔案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934200" y="3911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只部署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index.html + products.js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58000" y="4419600"/>
            <a:ext cx="4775200" cy="7620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6934200" y="44704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echo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部署成功訊息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934200" y="47752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方便在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Actions Log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確認時間點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858000" y="53848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 smtClean="0">
                <a:solidFill>
                  <a:srgbClr val="32A050"/>
                </a:solidFill>
                <a:latin typeface="微軟正黑體" panose="020B0604030504040204" pitchFamily="34" charset="-120"/>
              </a:rPr>
              <a:t>OUTPUT  </a:t>
            </a:r>
            <a:r>
              <a:rPr lang="zh-TW" altLang="en-US" sz="1200" b="1" smtClean="0">
                <a:solidFill>
                  <a:srgbClr val="32A050"/>
                </a:solidFill>
                <a:latin typeface="微軟正黑體" panose="020B0604030504040204" pitchFamily="34" charset="-120"/>
              </a:rPr>
              <a:t>✅  </a:t>
            </a:r>
            <a:r>
              <a:rPr lang="en-US" altLang="zh-TW" sz="1200" b="1" smtClean="0">
                <a:solidFill>
                  <a:srgbClr val="32A050"/>
                </a:solidFill>
                <a:latin typeface="微軟正黑體" panose="020B0604030504040204" pitchFamily="34" charset="-120"/>
              </a:rPr>
              <a:t>GitHub Actions </a:t>
            </a:r>
            <a:r>
              <a:rPr lang="zh-TW" altLang="en-US" sz="1200" b="1" smtClean="0">
                <a:solidFill>
                  <a:srgbClr val="32A050"/>
                </a:solidFill>
                <a:latin typeface="微軟正黑體" panose="020B0604030504040204" pitchFamily="34" charset="-120"/>
              </a:rPr>
              <a:t>顯示 </a:t>
            </a:r>
            <a:r>
              <a:rPr lang="en-US" altLang="zh-TW" sz="1200" b="1" smtClean="0">
                <a:solidFill>
                  <a:srgbClr val="32A050"/>
                </a:solidFill>
                <a:latin typeface="微軟正黑體" panose="020B0604030504040204" pitchFamily="34" charset="-120"/>
              </a:rPr>
              <a:t>success</a:t>
            </a:r>
            <a:r>
              <a:rPr lang="zh-TW" altLang="en-US" sz="1200" b="1" smtClean="0">
                <a:solidFill>
                  <a:srgbClr val="32A050"/>
                </a:solidFill>
                <a:latin typeface="微軟正黑體" panose="020B0604030504040204" pitchFamily="34" charset="-120"/>
              </a:rPr>
              <a:t>，網站自動更新</a:t>
            </a:r>
            <a:endParaRPr lang="zh-TW" altLang="en-US" sz="1200" b="1">
              <a:solidFill>
                <a:srgbClr val="32A050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50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04 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驗證與 </a:t>
            </a:r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Refine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流程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如何確保 </a:t>
            </a:r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回答準確？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1000" y="1270000"/>
            <a:ext cx="5334000" cy="4673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81000" y="1270000"/>
            <a:ext cx="53340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84200" y="1422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Refine </a:t>
            </a:r>
            <a:r>
              <a:rPr lang="zh-TW" altLang="en-US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循環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584200" y="1828800"/>
            <a:ext cx="355600" cy="3556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smtClean="0">
                <a:solidFill>
                  <a:srgbClr val="FFFFFF"/>
                </a:solidFill>
              </a:rPr>
              <a:t>1</a:t>
            </a:r>
            <a:endParaRPr lang="zh-TW" altLang="en-US" sz="1200">
              <a:solidFill>
                <a:srgbClr val="FFFF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066800" y="18542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(1)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撰寫初版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System Prompt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11200" y="21844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200" smtClean="0">
                <a:solidFill>
                  <a:srgbClr val="969696"/>
                </a:solidFill>
                <a:latin typeface="微軟正黑體" panose="020B0604030504040204" pitchFamily="34" charset="-120"/>
              </a:rPr>
              <a:t>↓</a:t>
            </a:r>
            <a:endParaRPr lang="zh-TW" altLang="en-US" sz="1200">
              <a:solidFill>
                <a:srgbClr val="96969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584200" y="2489200"/>
            <a:ext cx="355600" cy="355600"/>
          </a:xfrm>
          <a:prstGeom prst="ellipse">
            <a:avLst/>
          </a:prstGeom>
          <a:solidFill>
            <a:srgbClr val="008C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smtClean="0">
                <a:solidFill>
                  <a:srgbClr val="FFFFFF"/>
                </a:solidFill>
              </a:rPr>
              <a:t>2</a:t>
            </a:r>
            <a:endParaRPr lang="zh-TW" altLang="en-US" sz="1200">
              <a:solidFill>
                <a:srgbClr val="FFFF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066800" y="2514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(2)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執行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8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題測試問題集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11200" y="28448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200" smtClean="0">
                <a:solidFill>
                  <a:srgbClr val="969696"/>
                </a:solidFill>
                <a:latin typeface="微軟正黑體" panose="020B0604030504040204" pitchFamily="34" charset="-120"/>
              </a:rPr>
              <a:t>↓</a:t>
            </a:r>
            <a:endParaRPr lang="zh-TW" altLang="en-US" sz="1200">
              <a:solidFill>
                <a:srgbClr val="96969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584200" y="3149600"/>
            <a:ext cx="355600" cy="355600"/>
          </a:xfrm>
          <a:prstGeom prst="ellipse">
            <a:avLst/>
          </a:prstGeom>
          <a:solidFill>
            <a:srgbClr val="B464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smtClean="0">
                <a:solidFill>
                  <a:srgbClr val="FFFFFF"/>
                </a:solidFill>
              </a:rPr>
              <a:t>3</a:t>
            </a:r>
            <a:endParaRPr lang="zh-TW" altLang="en-US" sz="1200">
              <a:solidFill>
                <a:srgbClr val="FFFF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066800" y="3175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(3)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回答不準確？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11200" y="35052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200" smtClean="0">
                <a:solidFill>
                  <a:srgbClr val="969696"/>
                </a:solidFill>
                <a:latin typeface="微軟正黑體" panose="020B0604030504040204" pitchFamily="34" charset="-120"/>
              </a:rPr>
              <a:t>↓</a:t>
            </a:r>
            <a:endParaRPr lang="zh-TW" altLang="en-US" sz="1200">
              <a:solidFill>
                <a:srgbClr val="96969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84200" y="3810000"/>
            <a:ext cx="355600" cy="3556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smtClean="0">
                <a:solidFill>
                  <a:srgbClr val="FFFFFF"/>
                </a:solidFill>
              </a:rPr>
              <a:t>4</a:t>
            </a:r>
            <a:endParaRPr lang="zh-TW" altLang="en-US" sz="1200">
              <a:solidFill>
                <a:srgbClr val="FFFF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066800" y="38354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(4)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修改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useCase / features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描述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11200" y="4165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200" smtClean="0">
                <a:solidFill>
                  <a:srgbClr val="969696"/>
                </a:solidFill>
                <a:latin typeface="微軟正黑體" panose="020B0604030504040204" pitchFamily="34" charset="-120"/>
              </a:rPr>
              <a:t>↓</a:t>
            </a:r>
            <a:endParaRPr lang="zh-TW" altLang="en-US" sz="1200">
              <a:solidFill>
                <a:srgbClr val="96969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584200" y="4470400"/>
            <a:ext cx="355600" cy="355600"/>
          </a:xfrm>
          <a:prstGeom prst="ellipse">
            <a:avLst/>
          </a:prstGeom>
          <a:solidFill>
            <a:srgbClr val="008C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smtClean="0">
                <a:solidFill>
                  <a:srgbClr val="FFFFFF"/>
                </a:solidFill>
              </a:rPr>
              <a:t>5</a:t>
            </a:r>
            <a:endParaRPr lang="zh-TW" altLang="en-US" sz="1200">
              <a:solidFill>
                <a:srgbClr val="FFFF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066800" y="44958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(5)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重新執行測試集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11200" y="4826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1200" smtClean="0">
                <a:solidFill>
                  <a:srgbClr val="969696"/>
                </a:solidFill>
                <a:latin typeface="微軟正黑體" panose="020B0604030504040204" pitchFamily="34" charset="-120"/>
              </a:rPr>
              <a:t>↓</a:t>
            </a:r>
            <a:endParaRPr lang="zh-TW" altLang="en-US" sz="1200">
              <a:solidFill>
                <a:srgbClr val="969696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584200" y="5130800"/>
            <a:ext cx="355600" cy="355600"/>
          </a:xfrm>
          <a:prstGeom prst="ellipse">
            <a:avLst/>
          </a:prstGeom>
          <a:solidFill>
            <a:srgbClr val="00A0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smtClean="0">
                <a:solidFill>
                  <a:srgbClr val="FFFFFF"/>
                </a:solidFill>
              </a:rPr>
              <a:t>6</a:t>
            </a:r>
            <a:endParaRPr lang="zh-TW" altLang="en-US" sz="1200">
              <a:solidFill>
                <a:srgbClr val="FFFF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66800" y="51562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(6) 80%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以上合理 </a:t>
            </a:r>
            <a:r>
              <a:rPr lang="en-US" altLang="zh-TW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-&gt; </a:t>
            </a:r>
            <a:r>
              <a:rPr lang="zh-TW" altLang="en-US" sz="13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完成</a:t>
            </a:r>
            <a:endParaRPr lang="zh-TW" altLang="en-US" sz="13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918200" y="1270000"/>
            <a:ext cx="5892800" cy="4673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5918200" y="1270000"/>
            <a:ext cx="58928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6121400" y="1422400"/>
            <a:ext cx="548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products.js </a:t>
            </a:r>
            <a:r>
              <a:rPr lang="zh-TW" altLang="en-US" sz="14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資料驗證重點</a:t>
            </a:r>
            <a:endParaRPr lang="zh-TW" altLang="en-US" sz="14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121400" y="1828800"/>
            <a:ext cx="5486400" cy="7366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6197600" y="1879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型號正確性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197600" y="2184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對照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QNAP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官網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qnap.com/zh-tw/product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121400" y="2667000"/>
            <a:ext cx="5486400" cy="7366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6197600" y="27178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規格數字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197600" y="3022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對照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Datasheet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（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Port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數、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PoE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功率、速率）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121400" y="3505200"/>
            <a:ext cx="5486400" cy="7366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197600" y="35560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useCase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描述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197600" y="38608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自行判斷是否符合產品定位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121400" y="4343400"/>
            <a:ext cx="5486400" cy="7366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6197600" y="43942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features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完整性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6197600" y="4699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確認未遺漏重要功能（如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SFP+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支援）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121400" y="5283200"/>
            <a:ext cx="548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007832"/>
                </a:solidFill>
                <a:latin typeface="微軟正黑體" panose="020B0604030504040204" pitchFamily="34" charset="-120"/>
              </a:rPr>
              <a:t>💡  在 </a:t>
            </a:r>
            <a:r>
              <a:rPr lang="en-US" altLang="zh-TW" sz="1100" smtClean="0">
                <a:solidFill>
                  <a:srgbClr val="007832"/>
                </a:solidFill>
                <a:latin typeface="微軟正黑體" panose="020B0604030504040204" pitchFamily="34" charset="-120"/>
              </a:rPr>
              <a:t>System Prompt </a:t>
            </a:r>
            <a:r>
              <a:rPr lang="zh-TW" altLang="en-US" sz="1100" smtClean="0">
                <a:solidFill>
                  <a:srgbClr val="007832"/>
                </a:solidFill>
                <a:latin typeface="微軟正黑體" panose="020B0604030504040204" pitchFamily="34" charset="-120"/>
              </a:rPr>
              <a:t>加入「找不到完全符合時，列出最接近 </a:t>
            </a:r>
            <a:r>
              <a:rPr lang="en-US" altLang="zh-TW" sz="1100" smtClean="0">
                <a:solidFill>
                  <a:srgbClr val="007832"/>
                </a:solidFill>
                <a:latin typeface="微軟正黑體" panose="020B0604030504040204" pitchFamily="34" charset="-120"/>
              </a:rPr>
              <a:t>2-3 </a:t>
            </a:r>
            <a:r>
              <a:rPr lang="zh-TW" altLang="en-US" sz="1100" smtClean="0">
                <a:solidFill>
                  <a:srgbClr val="007832"/>
                </a:solidFill>
                <a:latin typeface="微軟正黑體" panose="020B0604030504040204" pitchFamily="34" charset="-120"/>
              </a:rPr>
              <a:t>款並說明差異」可大幅提升回答品質</a:t>
            </a:r>
            <a:endParaRPr lang="zh-TW" altLang="en-US" sz="1100">
              <a:solidFill>
                <a:srgbClr val="007832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817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05  5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大困難與解決方法（</a:t>
            </a:r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1/3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操作員最常遇到的問題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1000" y="1270000"/>
            <a:ext cx="5588000" cy="4978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81000" y="1270000"/>
            <a:ext cx="5588000" cy="762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58800" y="1447800"/>
            <a:ext cx="457200" cy="457200"/>
          </a:xfrm>
          <a:prstGeom prst="ellipse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smtClean="0">
                <a:solidFill>
                  <a:srgbClr val="FFFFFF"/>
                </a:solidFill>
              </a:rPr>
              <a:t>1</a:t>
            </a:r>
            <a:endParaRPr lang="zh-TW" altLang="en-US" sz="1600" b="1">
              <a:solidFill>
                <a:srgbClr val="FFFF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17600" y="1397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捏造了不存在的產品規格（</a:t>
            </a:r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Hallucination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33400" y="1955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B40000"/>
                </a:solidFill>
                <a:latin typeface="微軟正黑體" panose="020B0604030504040204" pitchFamily="34" charset="-120"/>
              </a:rPr>
              <a:t>症狀</a:t>
            </a:r>
            <a:endParaRPr lang="zh-TW" altLang="en-US" sz="1000" b="1">
              <a:solidFill>
                <a:srgbClr val="B4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33400" y="21336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Claude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把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QSW-M2108-2C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寫成「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16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埠」，或生成不存在的型號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QSW-M3200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33400" y="264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原因</a:t>
            </a:r>
            <a:endParaRPr lang="zh-TW" altLang="en-US" sz="10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33400" y="28194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在資料不足時會「補腦」填入看起來合理的數字，直接上線客戶查到錯誤會失去信任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33400" y="3327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8C3C"/>
                </a:solidFill>
                <a:latin typeface="微軟正黑體" panose="020B0604030504040204" pitchFamily="34" charset="-120"/>
              </a:rPr>
              <a:t>解決</a:t>
            </a:r>
            <a:endParaRPr lang="zh-TW" altLang="en-US" sz="1000" b="1">
              <a:solidFill>
                <a:srgbClr val="008C3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33400" y="35052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products.js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完成後，每筆資料逐一對照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QNAP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官網，特別確認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port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數、速率、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PoE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功率三欄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33400" y="4165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64B4"/>
                </a:solidFill>
                <a:latin typeface="微軟正黑體" panose="020B0604030504040204" pitchFamily="34" charset="-120"/>
              </a:rPr>
              <a:t>預防</a:t>
            </a:r>
            <a:endParaRPr lang="zh-TW" altLang="en-US" sz="1000" b="1">
              <a:solidFill>
                <a:srgbClr val="0064B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3400" y="43434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不確定的欄位（如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PoE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功率）寧可不填，也不要讓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猜；留空後再人工補充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477000" y="1270000"/>
            <a:ext cx="5334000" cy="4978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6477000" y="1270000"/>
            <a:ext cx="5334000" cy="762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6654800" y="1447800"/>
            <a:ext cx="457200" cy="457200"/>
          </a:xfrm>
          <a:prstGeom prst="ellipse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smtClean="0">
                <a:solidFill>
                  <a:srgbClr val="FFFFFF"/>
                </a:solidFill>
              </a:rPr>
              <a:t>2</a:t>
            </a:r>
            <a:endParaRPr lang="zh-TW" altLang="en-US" sz="1600" b="1">
              <a:solidFill>
                <a:srgbClr val="FFFF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213600" y="13970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Prompt 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太模糊，</a:t>
            </a:r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輸出與想像差很遠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629400" y="1955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B40000"/>
                </a:solidFill>
                <a:latin typeface="微軟正黑體" panose="020B0604030504040204" pitchFamily="34" charset="-120"/>
              </a:rPr>
              <a:t>症狀</a:t>
            </a:r>
            <a:endParaRPr lang="zh-TW" altLang="en-US" sz="1000" b="1">
              <a:solidFill>
                <a:srgbClr val="B4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629400" y="21336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說「幫我做一個好看的介面」，結果樣式、佈局完全不符期望，反覆說「不是這個意思」改了七八次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629400" y="264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原因</a:t>
            </a:r>
            <a:endParaRPr lang="zh-TW" altLang="en-US" sz="10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629400" y="28194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習慣用模糊語言描述，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的「想像」和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的「想像」是兩件事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629400" y="3327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8C3C"/>
                </a:solidFill>
                <a:latin typeface="微軟正黑體" panose="020B0604030504040204" pitchFamily="34" charset="-120"/>
              </a:rPr>
              <a:t>解決</a:t>
            </a:r>
            <a:endParaRPr lang="zh-TW" altLang="en-US" sz="1000" b="1">
              <a:solidFill>
                <a:srgbClr val="008C3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629400" y="35052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❌「做一個聊天介面」→ ✅「用戶訊息靠右藍色背景，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回答靠左灰色背景，輸入框固定底部」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629400" y="4165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64B4"/>
                </a:solidFill>
                <a:latin typeface="微軟正黑體" panose="020B0604030504040204" pitchFamily="34" charset="-120"/>
              </a:rPr>
              <a:t>預防</a:t>
            </a:r>
            <a:endParaRPr lang="zh-TW" altLang="en-US" sz="1000" b="1">
              <a:solidFill>
                <a:srgbClr val="0064B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629400" y="43434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動手前先花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分鐘畫草稿，再轉文字給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，一次到位比反覆修改快得多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0866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05  5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大困難與解決方法（</a:t>
            </a:r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2/3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操作員最常遇到的問題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1000" y="1270000"/>
            <a:ext cx="5588000" cy="4978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81000" y="1270000"/>
            <a:ext cx="5588000" cy="762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58800" y="1447800"/>
            <a:ext cx="457200" cy="457200"/>
          </a:xfrm>
          <a:prstGeom prst="ellipse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smtClean="0">
                <a:solidFill>
                  <a:srgbClr val="FFFFFF"/>
                </a:solidFill>
              </a:rPr>
              <a:t>3</a:t>
            </a:r>
            <a:endParaRPr lang="zh-TW" altLang="en-US" sz="1600" b="1">
              <a:solidFill>
                <a:srgbClr val="FFFF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17600" y="1397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不知道要整理哪些原始資料給 </a:t>
            </a:r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33400" y="1955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B40000"/>
                </a:solidFill>
                <a:latin typeface="微軟正黑體" panose="020B0604030504040204" pitchFamily="34" charset="-120"/>
              </a:rPr>
              <a:t>症狀</a:t>
            </a:r>
            <a:endParaRPr lang="zh-TW" altLang="en-US" sz="1000" b="1">
              <a:solidFill>
                <a:srgbClr val="B4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33400" y="21336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只給型號清單，沒有規格細節，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靠訓練資料猜測填入錯誤規格；或貼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PDF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全文，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抓不到重點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33400" y="264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原因</a:t>
            </a:r>
            <a:endParaRPr lang="zh-TW" altLang="en-US" sz="10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33400" y="28194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給越多雜訊越難精準輸出，但給太少容易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Hallucination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，需找到平衡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33400" y="3327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8C3C"/>
                </a:solidFill>
                <a:latin typeface="微軟正黑體" panose="020B0604030504040204" pitchFamily="34" charset="-120"/>
              </a:rPr>
              <a:t>解決</a:t>
            </a:r>
            <a:endParaRPr lang="zh-TW" altLang="en-US" sz="1000" b="1">
              <a:solidFill>
                <a:srgbClr val="008C3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33400" y="35052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整理成一產品一行的結構化文字：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QSW-M2116P-2T2S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：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16x PoE+ 2.5GbE + 2x 10GbE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PoE 200W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，適合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IP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攝影機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33400" y="4165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64B4"/>
                </a:solidFill>
                <a:latin typeface="微軟正黑體" panose="020B0604030504040204" pitchFamily="34" charset="-120"/>
              </a:rPr>
              <a:t>預防</a:t>
            </a:r>
            <a:endParaRPr lang="zh-TW" altLang="en-US" sz="1000" b="1">
              <a:solidFill>
                <a:srgbClr val="0064B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3400" y="4343400"/>
            <a:ext cx="528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每個產品只需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個核心欄位：型號、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port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組合、特殊功能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(PoE/SFP)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、管理類型、一句話定位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477000" y="1270000"/>
            <a:ext cx="5334000" cy="4978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6477000" y="1270000"/>
            <a:ext cx="5334000" cy="762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6654800" y="1447800"/>
            <a:ext cx="457200" cy="457200"/>
          </a:xfrm>
          <a:prstGeom prst="ellipse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smtClean="0">
                <a:solidFill>
                  <a:srgbClr val="FFFFFF"/>
                </a:solidFill>
              </a:rPr>
              <a:t>4</a:t>
            </a:r>
            <a:endParaRPr lang="zh-TW" altLang="en-US" sz="1600" b="1">
              <a:solidFill>
                <a:srgbClr val="FFFF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213600" y="13970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過度調整 </a:t>
            </a:r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System Prompt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，反而讓回答品質退步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629400" y="1955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B40000"/>
                </a:solidFill>
                <a:latin typeface="微軟正黑體" panose="020B0604030504040204" pitchFamily="34" charset="-120"/>
              </a:rPr>
              <a:t>症狀</a:t>
            </a:r>
            <a:endParaRPr lang="zh-TW" altLang="en-US" sz="1000" b="1">
              <a:solidFill>
                <a:srgbClr val="B4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629400" y="21336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加上「只能從清單推薦」→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變過度保守，遇到「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VLAN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是什麼」也說「我只能回答選品問題」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629400" y="2641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原因</a:t>
            </a:r>
            <a:endParaRPr lang="zh-TW" altLang="en-US" sz="10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629400" y="28194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每次只測試剛改好的問題，沒有回頭測試其他情境，累積的限制條件互相干擾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629400" y="3327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8C3C"/>
                </a:solidFill>
                <a:latin typeface="微軟正黑體" panose="020B0604030504040204" pitchFamily="34" charset="-120"/>
              </a:rPr>
              <a:t>解決</a:t>
            </a:r>
            <a:endParaRPr lang="zh-TW" altLang="en-US" sz="1000" b="1">
              <a:solidFill>
                <a:srgbClr val="008C3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629400" y="35052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每次修改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System Prompt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後，都要用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Prompt E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的完整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8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題測試集重新驗證，確認沒有其他回答變差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629400" y="4165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64B4"/>
                </a:solidFill>
                <a:latin typeface="微軟正黑體" panose="020B0604030504040204" pitchFamily="34" charset="-120"/>
              </a:rPr>
              <a:t>預防</a:t>
            </a:r>
            <a:endParaRPr lang="zh-TW" altLang="en-US" sz="1000" b="1">
              <a:solidFill>
                <a:srgbClr val="0064B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629400" y="4343400"/>
            <a:ext cx="502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把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System Prompt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的規則控制在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條以內，越多越容易衝突；優先保留最核心限制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3067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05  5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大困難與解決方法（</a:t>
            </a:r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3/3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操作員最常遇到的問題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1000" y="1270000"/>
            <a:ext cx="7366000" cy="4673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81000" y="1270000"/>
            <a:ext cx="7366000" cy="76200"/>
          </a:xfrm>
          <a:prstGeom prst="rect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58800" y="1447800"/>
            <a:ext cx="457200" cy="457200"/>
          </a:xfrm>
          <a:prstGeom prst="ellipse">
            <a:avLst/>
          </a:prstGeom>
          <a:solidFill>
            <a:srgbClr val="C8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smtClean="0">
                <a:solidFill>
                  <a:srgbClr val="FFFFFF"/>
                </a:solidFill>
              </a:rPr>
              <a:t>5</a:t>
            </a:r>
            <a:endParaRPr lang="zh-TW" altLang="en-US" sz="1600" b="1">
              <a:solidFill>
                <a:srgbClr val="FFFF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17600" y="1397000"/>
            <a:ext cx="650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 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設定不熟悉，遇到錯誤訊息不知道怎麼解讀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58800" y="1955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B40000"/>
                </a:solidFill>
                <a:latin typeface="微軟正黑體" panose="020B0604030504040204" pitchFamily="34" charset="-120"/>
              </a:rPr>
              <a:t>症狀</a:t>
            </a:r>
            <a:endParaRPr lang="zh-TW" altLang="en-US" sz="1000" b="1">
              <a:solidFill>
                <a:srgbClr val="B4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58800" y="2159000"/>
            <a:ext cx="706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 push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失敗，終端機顯示一長串英文錯誤，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不知道要看哪一行、去哪裡修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58800" y="2641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原因</a:t>
            </a:r>
            <a:endParaRPr lang="zh-TW" altLang="en-US" sz="1000" b="1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8800" y="2819400"/>
            <a:ext cx="706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不是工程師，對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git/GitHub 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設定（如 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PAT scope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remote URL</a:t>
            </a:r>
            <a:r>
              <a:rPr lang="zh-TW" altLang="en-US" sz="12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）不熟悉</a:t>
            </a:r>
            <a:endParaRPr lang="zh-TW" altLang="en-US" sz="12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58800" y="3251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8C3C"/>
                </a:solidFill>
                <a:latin typeface="微軟正黑體" panose="020B0604030504040204" pitchFamily="34" charset="-120"/>
              </a:rPr>
              <a:t>解決</a:t>
            </a:r>
            <a:endParaRPr lang="zh-TW" altLang="en-US" sz="1000" b="1">
              <a:solidFill>
                <a:srgbClr val="008C3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8800" y="3454400"/>
            <a:ext cx="7061200" cy="8382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660400" y="3505200"/>
            <a:ext cx="690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遇到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push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失敗 → 把整段錯誤訊息直接貼給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Claude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，說：
「我執行了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 push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，出現這個錯誤，請告訴我要怎麼修」
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Claude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會解讀錯誤並給出具體指令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58800" y="4368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000" b="1" smtClean="0">
                <a:solidFill>
                  <a:srgbClr val="0064B4"/>
                </a:solidFill>
                <a:latin typeface="微軟正黑體" panose="020B0604030504040204" pitchFamily="34" charset="-120"/>
              </a:rPr>
              <a:t>預防</a:t>
            </a:r>
            <a:endParaRPr lang="zh-TW" altLang="en-US" sz="1000" b="1">
              <a:solidFill>
                <a:srgbClr val="0064B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58800" y="4572000"/>
            <a:ext cx="706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本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SOP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第二章的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Checklist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已列出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PAT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需同時勾選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repo + workflow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兩個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scope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，照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Checklist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設定可避免大部分 </a:t>
            </a:r>
            <a:r>
              <a:rPr lang="en-US" altLang="zh-TW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push </a:t>
            </a:r>
            <a:r>
              <a:rPr lang="zh-TW" altLang="en-US" sz="1200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失敗</a:t>
            </a:r>
            <a:endParaRPr lang="zh-TW" altLang="en-US" sz="1200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50200" y="1270000"/>
            <a:ext cx="3860800" cy="4673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7950200" y="1270000"/>
            <a:ext cx="3860800" cy="76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8128000" y="14224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300" b="1" smtClean="0">
                <a:solidFill>
                  <a:srgbClr val="0072BC"/>
                </a:solidFill>
                <a:latin typeface="微軟正黑體" panose="020B0604030504040204" pitchFamily="34" charset="-120"/>
              </a:rPr>
              <a:t>大困難 速查</a:t>
            </a:r>
            <a:endParaRPr lang="zh-TW" altLang="en-US" sz="1300" b="1">
              <a:solidFill>
                <a:srgbClr val="0072B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28000" y="1828800"/>
            <a:ext cx="3505200" cy="7112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8229600" y="1981200"/>
            <a:ext cx="355600" cy="3556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smtClean="0">
                <a:solidFill>
                  <a:srgbClr val="FFFFFF"/>
                </a:solidFill>
              </a:rPr>
              <a:t>1</a:t>
            </a:r>
            <a:endParaRPr lang="zh-TW" altLang="en-US" sz="1100">
              <a:solidFill>
                <a:srgbClr val="FFFF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8661400" y="18796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AI Hallucination</a:t>
            </a:r>
            <a:endParaRPr lang="zh-TW" altLang="en-US" sz="12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661400" y="2184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逐一對照官網驗證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128000" y="2616200"/>
            <a:ext cx="3505200" cy="7112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8229600" y="2768600"/>
            <a:ext cx="355600" cy="3556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smtClean="0">
                <a:solidFill>
                  <a:srgbClr val="FFFFFF"/>
                </a:solidFill>
              </a:rPr>
              <a:t>2</a:t>
            </a:r>
            <a:endParaRPr lang="zh-TW" altLang="en-US" sz="1100">
              <a:solidFill>
                <a:srgbClr val="FFFF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661400" y="26670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Prompt </a:t>
            </a:r>
            <a:r>
              <a:rPr lang="zh-TW" altLang="en-US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太模糊</a:t>
            </a:r>
            <a:endParaRPr lang="zh-TW" altLang="en-US" sz="12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661400" y="2971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先畫草稿再描述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128000" y="3403600"/>
            <a:ext cx="3505200" cy="7112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8229600" y="3556000"/>
            <a:ext cx="355600" cy="3556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smtClean="0">
                <a:solidFill>
                  <a:srgbClr val="FFFFFF"/>
                </a:solidFill>
              </a:rPr>
              <a:t>3</a:t>
            </a:r>
            <a:endParaRPr lang="zh-TW" altLang="en-US" sz="1100">
              <a:solidFill>
                <a:srgbClr val="FFFF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8661400" y="3454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原始資料格式</a:t>
            </a:r>
            <a:endParaRPr lang="zh-TW" altLang="en-US" sz="12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661400" y="37592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</a:t>
            </a:r>
            <a:r>
              <a:rPr lang="en-US" altLang="zh-TW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欄位一行格式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128000" y="4191000"/>
            <a:ext cx="3505200" cy="7112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8229600" y="4343400"/>
            <a:ext cx="355600" cy="3556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smtClean="0">
                <a:solidFill>
                  <a:srgbClr val="FFFFFF"/>
                </a:solidFill>
              </a:rPr>
              <a:t>4</a:t>
            </a:r>
            <a:endParaRPr lang="zh-TW" altLang="en-US" sz="1100">
              <a:solidFill>
                <a:srgbClr val="FFFF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661400" y="4241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System Prompt </a:t>
            </a:r>
            <a:r>
              <a:rPr lang="zh-TW" altLang="en-US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衝突</a:t>
            </a:r>
            <a:endParaRPr lang="zh-TW" altLang="en-US" sz="12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661400" y="45466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改後跑完整測試集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28000" y="4978400"/>
            <a:ext cx="3505200" cy="7112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8229600" y="5130800"/>
            <a:ext cx="355600" cy="355600"/>
          </a:xfrm>
          <a:prstGeom prst="ellipse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smtClean="0">
                <a:solidFill>
                  <a:srgbClr val="FFFFFF"/>
                </a:solidFill>
              </a:rPr>
              <a:t>5</a:t>
            </a:r>
            <a:endParaRPr lang="zh-TW" altLang="en-US" sz="1100">
              <a:solidFill>
                <a:srgbClr val="FFFF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8661400" y="50292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 push </a:t>
            </a:r>
            <a:r>
              <a:rPr lang="zh-TW" altLang="en-US" sz="12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失敗</a:t>
            </a:r>
            <a:endParaRPr lang="zh-TW" altLang="en-US" sz="12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661400" y="53340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→ 貼錯誤給 </a:t>
            </a:r>
            <a:r>
              <a:rPr lang="en-US" altLang="zh-TW" sz="11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Claude</a:t>
            </a:r>
            <a:endParaRPr lang="zh-TW" altLang="en-US" sz="11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7561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04800" y="101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06  Prompt </a:t>
            </a:r>
            <a:r>
              <a:rPr lang="zh-TW" altLang="en-US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範本附錄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04800" y="6604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5 </a:t>
            </a:r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組可直接複用的 </a:t>
            </a:r>
            <a:r>
              <a:rPr lang="en-US" altLang="zh-TW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Prompt </a:t>
            </a:r>
            <a:r>
              <a:rPr lang="zh-TW" altLang="en-US" sz="14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模板</a:t>
            </a:r>
            <a:endParaRPr lang="zh-TW" altLang="en-US" sz="14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668000" y="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1000" smtClean="0">
                <a:solidFill>
                  <a:srgbClr val="B4DCFF"/>
                </a:solidFill>
                <a:latin typeface="微軟正黑體" panose="020B0604030504040204" pitchFamily="34" charset="-120"/>
              </a:rPr>
              <a:t>QNAP Switch
Advisor SOP</a:t>
            </a:r>
            <a:endParaRPr lang="zh-TW" altLang="en-US" sz="1000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143000"/>
            <a:ext cx="12192000" cy="5715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08000" y="1346200"/>
            <a:ext cx="10922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8000" y="1346200"/>
            <a:ext cx="76200" cy="711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85800" y="1473200"/>
            <a:ext cx="457200" cy="457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smtClean="0">
                <a:solidFill>
                  <a:srgbClr val="FFFFFF"/>
                </a:solidFill>
              </a:rPr>
              <a:t>Prompt A</a:t>
            </a:r>
            <a:endParaRPr lang="zh-TW" altLang="en-US" sz="1000" b="1">
              <a:solidFill>
                <a:srgbClr val="FFFF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244600" y="1397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產品資料結構化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860800" y="1397000"/>
            <a:ext cx="741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將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Switch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規格文字轉換為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JS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物件陣列（含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8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個欄位定義）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8000" y="2133600"/>
            <a:ext cx="10922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08000" y="2133600"/>
            <a:ext cx="76200" cy="711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685800" y="2260600"/>
            <a:ext cx="457200" cy="457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smtClean="0">
                <a:solidFill>
                  <a:srgbClr val="FFFFFF"/>
                </a:solidFill>
              </a:rPr>
              <a:t>Prompt B</a:t>
            </a:r>
            <a:endParaRPr lang="zh-TW" altLang="en-US" sz="1000" b="1">
              <a:solidFill>
                <a:srgbClr val="FFFF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244600" y="2184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System Prompt </a:t>
            </a:r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工程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860800" y="2184400"/>
            <a:ext cx="741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生成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buildSystemPrompt()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函數，動態從產品陣列組成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指令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8000" y="2921000"/>
            <a:ext cx="10922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508000" y="2921000"/>
            <a:ext cx="76200" cy="711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685800" y="3048000"/>
            <a:ext cx="457200" cy="457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smtClean="0">
                <a:solidFill>
                  <a:srgbClr val="FFFFFF"/>
                </a:solidFill>
              </a:rPr>
              <a:t>Prompt C</a:t>
            </a:r>
            <a:endParaRPr lang="zh-TW" altLang="en-US" sz="1000" b="1">
              <a:solidFill>
                <a:srgbClr val="FFFF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244600" y="2971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前端介面產生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860800" y="2971800"/>
            <a:ext cx="741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建立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index.html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，包含對話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UI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Groq API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串接、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Error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處理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8000" y="3708400"/>
            <a:ext cx="10922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08000" y="3708400"/>
            <a:ext cx="76200" cy="711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85800" y="3835400"/>
            <a:ext cx="457200" cy="457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smtClean="0">
                <a:solidFill>
                  <a:srgbClr val="FFFFFF"/>
                </a:solidFill>
              </a:rPr>
              <a:t>Prompt D</a:t>
            </a:r>
            <a:endParaRPr lang="zh-TW" altLang="en-US" sz="1000" b="1">
              <a:solidFill>
                <a:srgbClr val="FFFF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244600" y="3759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GitHub Actions Workflow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860800" y="3759200"/>
            <a:ext cx="741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建立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deploy-nas.yml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，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push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觸發、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self-hosted runner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cp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部署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8000" y="4495800"/>
            <a:ext cx="10922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508000" y="4495800"/>
            <a:ext cx="76200" cy="711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685800" y="4622800"/>
            <a:ext cx="457200" cy="457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smtClean="0">
                <a:solidFill>
                  <a:srgbClr val="FFFFFF"/>
                </a:solidFill>
              </a:rPr>
              <a:t>Prompt E</a:t>
            </a:r>
            <a:endParaRPr lang="zh-TW" altLang="en-US" sz="1000" b="1">
              <a:solidFill>
                <a:srgbClr val="FFFF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244600" y="4546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333333"/>
                </a:solidFill>
                <a:latin typeface="微軟正黑體" panose="020B0604030504040204" pitchFamily="34" charset="-120"/>
              </a:rPr>
              <a:t>測試問題集</a:t>
            </a:r>
            <a:endParaRPr lang="zh-TW" altLang="en-US" sz="1400" b="1">
              <a:solidFill>
                <a:srgbClr val="333333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60800" y="4546600"/>
            <a:ext cx="741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8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道測試題（基本選品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x3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、進階需求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x2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、邊界測試 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x3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）</a:t>
            </a:r>
            <a:r>
              <a:rPr lang="en-US" altLang="zh-TW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+ </a:t>
            </a:r>
            <a:r>
              <a:rPr lang="zh-TW" altLang="en-US" sz="1300" smtClean="0">
                <a:solidFill>
                  <a:srgbClr val="646464"/>
                </a:solidFill>
                <a:latin typeface="微軟正黑體" panose="020B0604030504040204" pitchFamily="34" charset="-120"/>
              </a:rPr>
              <a:t>評分標準</a:t>
            </a:r>
            <a:endParaRPr lang="zh-TW" altLang="en-US" sz="1300">
              <a:solidFill>
                <a:srgbClr val="646464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08000" y="5334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0064B4"/>
                </a:solidFill>
                <a:latin typeface="微軟正黑體" panose="020B0604030504040204" pitchFamily="34" charset="-120"/>
              </a:rPr>
              <a:t>完整 </a:t>
            </a:r>
            <a:r>
              <a:rPr lang="en-US" altLang="zh-TW" sz="1200" smtClean="0">
                <a:solidFill>
                  <a:srgbClr val="0064B4"/>
                </a:solidFill>
                <a:latin typeface="微軟正黑體" panose="020B0604030504040204" pitchFamily="34" charset="-120"/>
              </a:rPr>
              <a:t>Prompt </a:t>
            </a:r>
            <a:r>
              <a:rPr lang="zh-TW" altLang="en-US" sz="1200" smtClean="0">
                <a:solidFill>
                  <a:srgbClr val="0064B4"/>
                </a:solidFill>
                <a:latin typeface="微軟正黑體" panose="020B0604030504040204" pitchFamily="34" charset="-120"/>
              </a:rPr>
              <a:t>內容請參閱 </a:t>
            </a:r>
            <a:r>
              <a:rPr lang="en-US" altLang="zh-TW" sz="1200" smtClean="0">
                <a:solidFill>
                  <a:srgbClr val="0064B4"/>
                </a:solidFill>
                <a:latin typeface="微軟正黑體" panose="020B0604030504040204" pitchFamily="34" charset="-120"/>
              </a:rPr>
              <a:t>SOP </a:t>
            </a:r>
            <a:r>
              <a:rPr lang="zh-TW" altLang="en-US" sz="1200" smtClean="0">
                <a:solidFill>
                  <a:srgbClr val="0064B4"/>
                </a:solidFill>
                <a:latin typeface="微軟正黑體" panose="020B0604030504040204" pitchFamily="34" charset="-120"/>
              </a:rPr>
              <a:t>文件第六章（</a:t>
            </a:r>
            <a:r>
              <a:rPr lang="en-US" altLang="zh-TW" sz="1200" smtClean="0">
                <a:solidFill>
                  <a:srgbClr val="0064B4"/>
                </a:solidFill>
                <a:latin typeface="微軟正黑體" panose="020B0604030504040204" pitchFamily="34" charset="-120"/>
              </a:rPr>
              <a:t>docs/SOP-QNAP-Switch-Advisor.md</a:t>
            </a:r>
            <a:r>
              <a:rPr lang="zh-TW" altLang="en-US" sz="1200" smtClean="0">
                <a:solidFill>
                  <a:srgbClr val="0064B4"/>
                </a:solidFill>
                <a:latin typeface="微軟正黑體" panose="020B0604030504040204" pitchFamily="34" charset="-120"/>
              </a:rPr>
              <a:t>）</a:t>
            </a:r>
            <a:endParaRPr lang="zh-TW" altLang="en-US" sz="1200">
              <a:solidFill>
                <a:srgbClr val="0064B4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987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0" y="4826000"/>
            <a:ext cx="12192000" cy="2032000"/>
          </a:xfrm>
          <a:prstGeom prst="rect">
            <a:avLst/>
          </a:prstGeom>
          <a:solidFill>
            <a:srgbClr val="005A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62000" y="762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2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這個 </a:t>
            </a:r>
            <a:r>
              <a:rPr lang="en-US" altLang="zh-TW" sz="32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SOP </a:t>
            </a:r>
            <a:r>
              <a:rPr lang="zh-TW" altLang="en-US" sz="32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的核心價值</a:t>
            </a:r>
            <a:endParaRPr lang="zh-TW" altLang="en-US" sz="32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2000" y="1524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mtClean="0">
                <a:solidFill>
                  <a:srgbClr val="B4DCFF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mtClean="0">
                <a:solidFill>
                  <a:srgbClr val="B4DCFF"/>
                </a:solidFill>
                <a:latin typeface="微軟正黑體" panose="020B0604030504040204" pitchFamily="34" charset="-120"/>
              </a:rPr>
              <a:t>不需要工程師，就能在一天內建置可對外服務的 </a:t>
            </a:r>
            <a:r>
              <a:rPr lang="en-US" altLang="zh-TW" smtClean="0">
                <a:solidFill>
                  <a:srgbClr val="B4DCFF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mtClean="0">
                <a:solidFill>
                  <a:srgbClr val="B4DCFF"/>
                </a:solidFill>
                <a:latin typeface="微軟正黑體" panose="020B0604030504040204" pitchFamily="34" charset="-120"/>
              </a:rPr>
              <a:t>產品顧問</a:t>
            </a:r>
            <a:endParaRPr lang="zh-TW" altLang="en-US">
              <a:solidFill>
                <a:srgbClr val="B4DC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2000" y="2133600"/>
            <a:ext cx="10668000" cy="736600"/>
          </a:xfrm>
          <a:prstGeom prst="rect">
            <a:avLst/>
          </a:prstGeom>
          <a:solidFill>
            <a:srgbClr val="008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863600" y="21844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22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[&gt;&gt;]</a:t>
            </a:r>
            <a:endParaRPr lang="zh-TW" altLang="en-US" sz="2200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574800" y="21844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快速複用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574800" y="2489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只需更換 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products.js 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的產品資料，即可套用至 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Router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NAS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、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Camera 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等其他產品線</a:t>
            </a:r>
            <a:endParaRPr lang="zh-TW" altLang="en-US" sz="12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2000" y="2971800"/>
            <a:ext cx="10668000" cy="736600"/>
          </a:xfrm>
          <a:prstGeom prst="rect">
            <a:avLst/>
          </a:prstGeom>
          <a:solidFill>
            <a:srgbClr val="008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863600" y="30226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22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[CD]</a:t>
            </a:r>
            <a:endParaRPr lang="zh-TW" altLang="en-US" sz="2200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4800" y="30226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自動部署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574800" y="33274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一次設定 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GitHub Actions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，此後每次更新只需 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git push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，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NAS 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網站自動更新</a:t>
            </a:r>
            <a:endParaRPr lang="zh-TW" altLang="en-US" sz="12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2000" y="3810000"/>
            <a:ext cx="10668000" cy="736600"/>
          </a:xfrm>
          <a:prstGeom prst="rect">
            <a:avLst/>
          </a:prstGeom>
          <a:solidFill>
            <a:srgbClr val="008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63600" y="38608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TW" sz="2200" smtClean="0">
                <a:solidFill>
                  <a:srgbClr val="FFFFFF"/>
                </a:solidFill>
                <a:latin typeface="微軟正黑體" panose="020B0604030504040204" pitchFamily="34" charset="-120"/>
              </a:rPr>
              <a:t>[AI]</a:t>
            </a:r>
            <a:endParaRPr lang="zh-TW" altLang="en-US" sz="2200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574800" y="38608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AI </a:t>
            </a:r>
            <a:r>
              <a:rPr lang="zh-TW" altLang="en-US" sz="14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賦能</a:t>
            </a:r>
            <a:endParaRPr lang="zh-TW" altLang="en-US" sz="14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574800" y="4165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將 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的產品知識結構化後，讓 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AI 7x24 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回答選品問題，解放 </a:t>
            </a:r>
            <a:r>
              <a:rPr lang="en-US" altLang="zh-TW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PM </a:t>
            </a:r>
            <a:r>
              <a:rPr lang="zh-TW" altLang="en-US" sz="1200" smtClean="0">
                <a:solidFill>
                  <a:srgbClr val="C8E6FF"/>
                </a:solidFill>
                <a:latin typeface="微軟正黑體" panose="020B0604030504040204" pitchFamily="34" charset="-120"/>
              </a:rPr>
              <a:t>重複勞動</a:t>
            </a:r>
            <a:endParaRPr lang="zh-TW" altLang="en-US" sz="1200">
              <a:solidFill>
                <a:srgbClr val="C8E6FF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62000" y="4953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TW" sz="1400" smtClean="0">
                <a:solidFill>
                  <a:srgbClr val="A0C8F0"/>
                </a:solidFill>
                <a:latin typeface="微軟正黑體" panose="020B0604030504040204" pitchFamily="34" charset="-120"/>
              </a:rPr>
              <a:t>SOP v1.0  ·  Ronald Hsu</a:t>
            </a:r>
            <a:r>
              <a:rPr lang="zh-TW" altLang="en-US" sz="1400" smtClean="0">
                <a:solidFill>
                  <a:srgbClr val="A0C8F0"/>
                </a:solidFill>
                <a:latin typeface="微軟正黑體" panose="020B0604030504040204" pitchFamily="34" charset="-120"/>
              </a:rPr>
              <a:t>（許智傑）  </a:t>
            </a:r>
            <a:r>
              <a:rPr lang="en-US" altLang="zh-TW" sz="1400" smtClean="0">
                <a:solidFill>
                  <a:srgbClr val="A0C8F0"/>
                </a:solidFill>
                <a:latin typeface="微軟正黑體" panose="020B0604030504040204" pitchFamily="34" charset="-120"/>
              </a:rPr>
              <a:t>·  Networking PM / Product DPM</a:t>
            </a:r>
            <a:endParaRPr lang="zh-TW" altLang="en-US" sz="1400">
              <a:solidFill>
                <a:srgbClr val="A0C8F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62000" y="54864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200" smtClean="0">
                <a:solidFill>
                  <a:srgbClr val="82B4DC"/>
                </a:solidFill>
                <a:latin typeface="微軟正黑體" panose="020B0604030504040204" pitchFamily="34" charset="-120"/>
              </a:rPr>
              <a:t>文件位置：</a:t>
            </a:r>
            <a:r>
              <a:rPr lang="en-US" altLang="zh-TW" sz="1200" smtClean="0">
                <a:solidFill>
                  <a:srgbClr val="82B4DC"/>
                </a:solidFill>
                <a:latin typeface="微軟正黑體" panose="020B0604030504040204" pitchFamily="34" charset="-120"/>
              </a:rPr>
              <a:t>docs/SOP-QNAP-Switch-Advisor.md  |  Repo</a:t>
            </a:r>
            <a:r>
              <a:rPr lang="zh-TW" altLang="en-US" sz="1200" smtClean="0">
                <a:solidFill>
                  <a:srgbClr val="82B4DC"/>
                </a:solidFill>
                <a:latin typeface="微軟正黑體" panose="020B0604030504040204" pitchFamily="34" charset="-120"/>
              </a:rPr>
              <a:t>：</a:t>
            </a:r>
            <a:r>
              <a:rPr lang="en-US" altLang="zh-TW" sz="1200" smtClean="0">
                <a:solidFill>
                  <a:srgbClr val="82B4DC"/>
                </a:solidFill>
                <a:latin typeface="微軟正黑體" panose="020B0604030504040204" pitchFamily="34" charset="-120"/>
              </a:rPr>
              <a:t>ronaldhsu/qnap-switch-advisor</a:t>
            </a:r>
            <a:endParaRPr lang="zh-TW" altLang="en-US" sz="1200">
              <a:solidFill>
                <a:srgbClr val="82B4D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62000" y="5892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2800" b="1" smtClean="0">
                <a:solidFill>
                  <a:srgbClr val="FFFFFF"/>
                </a:solidFill>
                <a:latin typeface="微軟正黑體" panose="020B0604030504040204" pitchFamily="34" charset="-120"/>
              </a:rPr>
              <a:t>End of Presentation</a:t>
            </a:r>
            <a:endParaRPr lang="zh-TW" altLang="en-US" sz="2800" b="1">
              <a:solidFill>
                <a:srgbClr val="FFFFFF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301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2279</Words>
  <Application>Microsoft Office PowerPoint</Application>
  <PresentationFormat>自訂</PresentationFormat>
  <Paragraphs>337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RonaldHsu</dc:creator>
  <cp:lastModifiedBy>RonaldHsu</cp:lastModifiedBy>
  <cp:revision>1</cp:revision>
  <dcterms:created xsi:type="dcterms:W3CDTF">2026-02-26T07:50:37Z</dcterms:created>
  <dcterms:modified xsi:type="dcterms:W3CDTF">2026-02-26T07:50:37Z</dcterms:modified>
</cp:coreProperties>
</file>